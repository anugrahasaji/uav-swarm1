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PQC-MAV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BBDEFB"/>
                </a:solidFill>
                <a:latin typeface="Segoe UI"/>
              </a:defRPr>
            </a:pPr>
            <a:r>
              <a:t>A Complete Post-Quantum Cryptographic Tunnel</a:t>
            </a:r>
            <a:br/>
            <a:r>
              <a:t>for UAV–GCS Communication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14800"/>
            <a:ext cx="2743200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Burak Güneysu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Segoe UI"/>
              </a:defRPr>
            </a:pPr>
            <a:r>
              <a:t>Department of Computer Science  •  February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669280"/>
            <a:ext cx="2194560" cy="82296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196F3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035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Cipher Suites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5669280"/>
            <a:ext cx="2194560" cy="82296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5669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196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6035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KEM Families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5669280"/>
            <a:ext cx="2194560" cy="82296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5669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196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6035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Scenarios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59" y="5669280"/>
            <a:ext cx="2194560" cy="82296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59" y="5669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196F3"/>
                </a:solidFill>
                <a:latin typeface="Segoe UI"/>
              </a:defRPr>
            </a:pPr>
            <a:r>
              <a:t>19,600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59" y="6035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Benchmarks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Presentation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1.  Motivation &amp; Problem Statement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2.  System Architecture – Bump-in-the-Wire Tunnel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3.  Post-Quantum Cryptography Primer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4.  72 Cipher Suite Registry – KEMs, SIGs, AEADs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5.  PQC Handshake &amp; AEAD Framing Protocol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6.  Benchmark Methodology &amp; Hardware Testbed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7.  KEM Primitive Performance Analysis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8.  Signature &amp; AEAD Benchmark Results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9.  End-to-End Handshake Results (All 72 Suites)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10. Pareto-Optimal Suites &amp; Rekey Overhead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11. DDoS Detection Models – XGBoost &amp; TST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12. Three-Scenario Benchmark Comparison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13. DDoS Overhead Analysis &amp; Cross-Run Delta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14. Adaptive Policy &amp; Graceful Degradation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15. Key Findings &amp;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196F3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Motivation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57575"/>
                </a:solidFill>
                <a:latin typeface="Segoe UI"/>
              </a:defRPr>
            </a:pPr>
            <a:r>
              <a:t>Why post-quantum cryptography for drones?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The Quantum Threat to UAV Communications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Modern UAVs use MAVLink 2.0 protocol – compact binary telemetry up to 320 Hz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Current protection relies on classical crypto: RSA, ECDH, ECDSA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NIST warns: quantum computers will break ALL classical key exchange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Three critical challenges for drone PQC deployment: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① Extreme performance heterogeneity – KEM keygen spans 4 orders of magnitude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② Resource constraints – RPi 5 at 3.8W power budget, 80°C thermal limit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③ Safety continuity – MAVLink heartbeats must arrive within 5 seconds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No prior work implements a complete PQC tunnel for real MAVLink traffic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PQC-MAV is the first bump-in-the-wire PQC tunnel for UAV–GCS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196F3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57575"/>
                </a:solidFill>
                <a:latin typeface="Segoe UI"/>
              </a:defRPr>
            </a:pPr>
            <a:r>
              <a:t>PQC-MAV: A transparent bump-in-the-wire tunnel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Tunnel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Bump-in-the-wire proxy: zero changes to MAVProxy / QGroundControl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Data Path (bidirectional):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Pixhawk FC → MAVProxy (serial) → PQC Proxy → [ENCRYPTED] → PQC Proxy → MAVProxy → QGC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Controller–Follower model: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Drone (RPi 5) = Controller – initiates suite changes, manages rekey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GCS (Windows 11) = Follower – executes commands via JSON-RPC (TCP:48080)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Two-phase rekey: Prepare → Commit → Abort/Rollback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Blackout = T_startup (~3s) + T_handshake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Failed suites are blacklisted (TTL: 30 min)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Clock synchronisation via Operation Chronos (NTP-lite, 3-message)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Hardware Testbed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Drone (uavpi):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Raspberry Pi 5 – ARM Cortex-A76 (4 cores)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3,796 MB RAM, Linux 6.12.47+rpt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Python 3.11.2, liboqs 0.12.0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Power: INA219 sensor at 1,100 Hz / RPi5 hwmon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GCS (lappy):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Windows 11 x86-64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Python 3.11.13, liboqs 0.12.0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Network: Ethernet LAN (sub-ms RTT)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MAVLink: Pixhawk SITL at 320 Hz telemetry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196F3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Post-Quantum Cryptography Primer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57575"/>
                </a:solidFill>
                <a:latin typeface="Segoe UI"/>
              </a:defRPr>
            </a:pPr>
            <a:r>
              <a:t>NIST standards &amp; mathematical assumptions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PQC Algorithm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KEM (Key Encapsulation Mechanism) – replace Diffie-Hellman: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ML-KEM (FIPS 203) – Module Learning-with-Errors (lattice)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HQC – Hamming Quasi-Cyclic codes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Classic McEliece – Binary Goppa codes (Niederreiter)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Digital Signatures – replace RSA/ECDSA: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ML-DSA (FIPS 204) – Module-LWE lattice signatures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Falcon – NTRU lattice + fast Fourier sampling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SPHINCS+ (FIPS 205) – Stateless hash-based signatures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AEAD (Authenticated Encryption with Associated Data):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AES-256-GCM – NIST standard, HW-accelerated on x86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ChaCha20-Poly1305 – Software-friendly (Bernstein)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Ascon-128a – Lightweight, NIST LWC winner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NIST Security Levels: L1 (AES-128), L3 (AES-192), L5 (AES-256 equivalent)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196F3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72 Cipher Suite Registry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57575"/>
                </a:solidFill>
                <a:latin typeface="Segoe UI"/>
              </a:defRPr>
            </a:pPr>
            <a:r>
              <a:t>9 KEMs × 8 SIGs × 3 AEADs = 72 NIST-level-matched suites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Suite Construction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Suite Registry S = { (KEM_i, SIG_j, AEAD_k) | Level(KEM_i) = Level(SIG_j) }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9 KEMs:  ML-KEM-{512,768,1024}, HQC-{128,192,256}, McEliece-{348864,460896,8192128}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8 SIGs:  ML-DSA-{44,65,87}, Falcon-{512,1024}, SPHINCS+-{128s,192s,256s}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3 AEADs: AES-256-GCM, ChaCha20-Poly1305, Ascon-128a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Level distribution: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L1 = 3 KEMs × 3 SIGs × 3 AEADs = 27 suites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L3 = 3 KEMs × 2 SIGs × 3 AEADs = 18 suites  (no Falcon at L3)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L5 = 3 KEMs × 3 SIGs × 3 AEADs = 27 suites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─────────────────────────────────────────────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Total: 72 cipher suites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Algorithm diversity: 3 distinct mathematical assumptions (lattice, quasi-cyclic code, Goppa code)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Suite ID format: cs-{kem}-{aead}-{sig}  e.g., cs-mlkem768-aesgcm-mldsa65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196F3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PQC Handshake &amp; AEAD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57575"/>
                </a:solidFill>
                <a:latin typeface="Segoe UI"/>
              </a:defRPr>
            </a:pPr>
            <a:r>
              <a:t>KEM + SIG + HKDF handshake with deterministic nonces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PQC Handshake Protocol (3 Messages)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Message 1 – ServerHello (GCS → Drone):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GCS generates ephemeral KEM keypair: (pk, sk) ← KEM.Keygen()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Signs transcript: σ ← SIG.Sign(sk_GCS, ver ‖ kem_name ‖ sig_name ‖ sid ‖ pk)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Sends: ver ‖ pk ‖ σ ‖ sid ‖ challenge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Message 2 – ClientFinish (Drone → GCS):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Verifies signature (anti-downgrade)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KEM encapsulation: (ct, ss) ← KEM.Encaps(pk)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Sends: ct ‖ HMAC-SHA256(PSK, ct ‖ challenge)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Message 3 – Key Derivation (both sides):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GCS verifies HMAC, decapsulates: ss ← KEM.Decaps(sk, ct)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k_d→g ‖ k_g→d = HKDF-SHA256(ss, salt, ver ‖ sid ‖ kem ‖ sig)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Directional keys prevent reflection attacks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AEAD Wire Format: 22-byte header (AAD) + encrypted payload + 16-byte tag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Nonce = epoch(4B) ‖ seq(8B) — never transmitted, reconstructed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Anti-replay: sliding-window bitmap (64+ packets)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196F3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Benchmark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57575"/>
                </a:solidFill>
                <a:latin typeface="Segoe UI"/>
              </a:defRPr>
            </a:pPr>
            <a:r>
              <a:t>19,600 timed operations + 72 end-to-end tunnel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Benchmarking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Three-tier benchmarking: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Tier 1:  Primitive-level (KEM/SIG/AEAD operations, n=200 each)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Tier 2:  DDoS overhead measurement (per-handshake with detector active)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Tier 3:  End-to-end tunnel – full 110s MAVLink session per suite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Three scenarios (each runs all 72 suites):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Baseline (No DDoS)  – run 20260211_141627 – pure tunnel performance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+ XGBoost Detector   – run 20260211_150013 – fast ML detection overhead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+ TST Detector       – run 20260211_171406 – heavy DL detection overhead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Per-suite data pipeline: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Drone scheduler → start_proxy RPC → handshake → 110s traffic → stop → merge metrics → JSON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18 metric categories (A–R): crypto_identity, handshake, crypto_primitives,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data_plane, latency, MAVProxy, fc_telemetry, system, power/energy, validation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432 total JSON files (72 suites × 2 endpoints × 3 scenarios)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196F3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KEM Primitive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57575"/>
                </a:solidFill>
                <a:latin typeface="Segoe UI"/>
              </a:defRPr>
            </a:pPr>
            <a:r>
              <a:t>Four orders of magnitude – from 0.08 ms to 8,835 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KEM Keygen Time Across Algorithms &amp;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Segoe UI"/>
              </a:defRPr>
            </a:pPr>
            <a:r>
              <a:t>Median keygen times (log scale) – ML-KEM is sub-millisecond, McEliece is seconds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50165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KEM Performance –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Key Finding 1: ML-KEM dominates in speed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ML-KEM-512: 0.08 ms keygen  |  ML-KEM-1024: 0.14 ms keygen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3 orders of magnitude faster than HQC (22–392 ms)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5 orders faster than McEliece keygen (333–8,835 ms)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Key Finding 2: McEliece has extreme variance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McEliece-8192128: σ = 857 ms (probabilistic key generation)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Worst case keygen: up to 36.6 seconds!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Unsuitable for time-bounded rekey operations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Key Finding: Public key sizes vary enormously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ML-KEM-512: 800 bytes  vs.  McEliece-8192128: 1,357,824 bytes (1.36 MB)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867× size difference → bandwidth and memory implications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Across all 3 scenarios, KEM primitive times are consistent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→ DDoS detection does NOT affect the crypto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196F3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Signature &amp; AEAD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57575"/>
                </a:solidFill>
                <a:latin typeface="Segoe UI"/>
              </a:defRPr>
            </a:pPr>
            <a:r>
              <a:t>SPHINCS+ signing &gt; 1 second  •  AEAD is a non-factor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Signature &amp; AEAD Performance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353529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669280" cy="36358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2179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SIG sign times by algorithm (log scale)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62179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AEAD encrypt/decrypt (µs)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SIG &amp; AEAD –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Signature Performance: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Falcon-512:   sign 0.65 ms, verify 0.11 ms – fastest combo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ML-DSA-65:    sign 1.59 ms, verify 0.38 ms – good all-rounder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SPHINCS+-128s: sign 1,461 ms – &gt;1000× slower than Falcon!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SPHINCS+ is the dominant bottleneck in any suite that includes it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Key Finding 3: AEAD algorithm choice is a non-factor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AES-256-GCM: 7.3 µs  |  ChaCha20: 6.7 µs  |  Ascon-128a: 4.1 µs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Max difference: 3.5 µs/packet → 1.12 ms/sec at 320 Hz = 0.11%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Ascon is 44% faster (no AES-NI on ARM Cortex-A76)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AEAD selection should be driven by side-channel resistance, not performance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Conclusion: Rekey decisions should focus on KEM + SIG, not AEAD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196F3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End-to-End Handshake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57575"/>
                </a:solidFill>
                <a:latin typeface="Segoe UI"/>
              </a:defRPr>
            </a:pPr>
            <a:r>
              <a:t>71/72 suites succeeded • Complete tunnel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All 72 Cipher Suites – Baseline Handshake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Segoe UI"/>
              </a:defRPr>
            </a:pPr>
            <a:r>
              <a:t>Horizontal bars: sorted by handshake duration (log scale)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0" cy="102528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Handshake Analysis: By KEM Family &amp; NIST Level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314117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669280" cy="35352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2179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Median handshake time by KEM family across scenarios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62179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Handshake distribution by NIST level (baseline)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End-to-End Handshake – Key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71/72 suites completed successfully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1 timeout: McEliece-460896 + SPHINCS+-192s (combined weight)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By NIST Level (baseline):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L1: n=27, mean=290 ms, median=123 ms, P95=835 ms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L3: n=17, mean=749 ms, median=416 ms, P95=1,583 ms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L5: n=27, mean=855 ms, median=870 ms, max=3,273 ms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By KEM Family (baseline median):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ML-KEM suites: ~10–22 ms (without SPHINCS+)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HQC suites: ~100–400 ms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McEliece suites: ~400–3,000+ ms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Regression: log₁₀(T_hs) = −2.39 + 0.30·log₁₀(pk_size) + 0.97·log₁₀(sig_size)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R² = 0.67 – Signature size is the dominant predictor (β = 0.97)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196F3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Pareto-Optimal Suites &amp; Rekey Overhead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57575"/>
                </a:solidFill>
                <a:latin typeface="Segoe UI"/>
              </a:defRPr>
            </a:pPr>
            <a:r>
              <a:t>Identifying the best security-performance trade-offs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Pareto Frontier: Security Level vs. Handshake 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Segoe UI"/>
              </a:defRPr>
            </a:pPr>
            <a:r>
              <a:t>All suites plotted; gold stars = Pareto-optimal (ML-KEM + Falcon/ML-DSA)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9144000" cy="55885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Pareto-Optimal Suites &amp; Rekey Overhead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Three Pareto-Optimal Suites (all use ML-KEM):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★ L1: ML-KEM-512 + Falcon-512       → 9.1 ms handshake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★ L3: ML-KEM-768 + ML-DSA-65         → 17.7 ms handshake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★ L5: ML-KEM-1024 + Falcon-1024      → 10.1 ms handshake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Rekey Overhead Fraction: Φ(R) = T_hs / (R + T_hs)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At R = 60s rekey interval: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ML-KEM-768:    Φ = 0.029%  ✓  negligible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HQC-256:       Φ = 0.45%   ⚠  acceptable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McE-8192128:   Φ = 0.85%   ✗  high overhead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29× difference between ML-KEM and McEliece overhead!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Key Finding 5: Runtime cipher-suite management is NOT optional –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operating heavy suites with aggressive rekey intervals degrades MAVLink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Rekey Overhead Fraction Φ(R) vs Interval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Segoe UI"/>
              </a:defRPr>
            </a:pPr>
            <a:r>
              <a:t>Log-log plot showing overhead for different suites at various rekey intervals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9144000" cy="50891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196F3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DDoS Detection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57575"/>
                </a:solidFill>
                <a:latin typeface="Segoe UI"/>
              </a:defRPr>
            </a:pPr>
            <a:r>
              <a:t>XGBoost (fast) vs TST Transformer (heavy)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DDoS Detection: XGBoost vs. TST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Segoe UI"/>
              </a:defRPr>
            </a:pPr>
            <a:r>
              <a:t>Two ML models for MAVLink traffic anomaly detection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9144000" cy="45264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DDoS Detection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Threat: DDoS floods starve MAVLink throughput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Normal: ~32 packets/window | Attack: ~5-14 packets/window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Detection via Scapy: sniff wlan0 for MAVLink v2 (0xFD magic byte)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XGBoost Detector (lightweight):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5-packet counting window → ~3 second detection latency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Microsecond inference (gradient boosted trees)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Single-threaded, GIL-friendly, ~100 KB model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Best for: real-time detection with minimal overhead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TST Detector (Time Series Transformer):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400-packet window → ~240 second detection latency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3-layer, 16-head Transformer (d_model=128)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Millisecond inference, ~5 MB model, CPU-only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Best for: higher accuracy with temporal patterns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Hybrid Cascaded Pipeline: XGBoost → TST (fast screening + deep confirmation)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196F3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Three-Scenario Benchmark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57575"/>
                </a:solidFill>
                <a:latin typeface="Segoe UI"/>
              </a:defRPr>
            </a:pPr>
            <a:r>
              <a:t>Baseline vs +XGBoost vs +TST – 432 JSON files analyzed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Cross-Scenario Key Metrics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Segoe UI"/>
              </a:defRPr>
            </a:pPr>
            <a:r>
              <a:t>Aggregated statistics across all 72 suites per scenario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9144000" cy="46923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System Resource Impact: CPU, Temperature, Packets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Segoe UI"/>
              </a:defRPr>
            </a:pPr>
            <a:r>
              <a:t>Side-by-side comparison of drone-side system metrics across 3 scenarios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3661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196F3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DDoS Overhead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57575"/>
                </a:solidFill>
                <a:latin typeface="Segoe UI"/>
              </a:defRPr>
            </a:pPr>
            <a:r>
              <a:t>Measuring the true cost of detection on handshake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DDoS Detection Overhead: Handshake Time Delta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Segoe UI"/>
              </a:defRPr>
            </a:pPr>
            <a:r>
              <a:t>Δ median handshake time vs baseline, by KEM family × detection model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44008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DDoS Overhead – Analysis &amp;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XGBoost overhead is minimal: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ML-KEM: negligible delta (&lt; 1 ms typical)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HQC: modest increase due to counting window computation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McEliece: slightly noisier due to long keygen + concurrent detection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TST overhead is measurable: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Transformer inference adds ~ms per prediction cycle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Higher idle CPU consumption (model in memory)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TST's 400-packet window means longer warmup before first detection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Key Finding 6: Steady-state metrics are nearly identical across scenarios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The AEAD data plane dominates runtime cost, not detection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DDoS detection overhead manifests primarily during handshake transitions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Once the tunnel is established, all 3 scenarios are equivalent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Conclusion: XGBoost is the recommended detector for flight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→ Minimal overhead, fast detection, negligible impact on PQC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196F3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Adaptive Policy &amp; Graceful Degradation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57575"/>
                </a:solidFill>
                <a:latin typeface="Segoe UI"/>
              </a:defRPr>
            </a:pPr>
            <a:r>
              <a:t>TelemetryAwarePolicyV2 – live suite management during flight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Telemetry-Aware Adaptive Rekey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Policy inputs (every 1 second):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Link quality: pkt/s, P95 gap, jitter, blackout count (5s window)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Battery: voltage (mV), rate of change (mV/min)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Thermal: SoC temp (°C), rate of change (°C/min)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Armed state: from Pixhawk heartbeat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Session state: current suite, epoch, cooldown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Suite Tier Ordering: tier(s) = Level + KEM_weight + AEAD_weight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Tier 0 (lightest): ML-KEM-512 + AES-GCM → Tier 27: McE-8192128 + Ascon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Correlation with measured handshake: r = 0.94 (p &lt; 10⁻⁵⁰)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9-level Priority Cascade: Safety → Emergency → Blackout → Cooldown →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Link → Stress → Rekey → Upgrade → Hold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Most powerful degradation: McEliece → ML-KEM at same NIST level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→ 98× handshake reduction, 867× key-size reduction, ZERO security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196F3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Key Findings &amp;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Summary of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Finding 1: Algorithm-FAMILY selection dominates (not parameter tuning)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→ ML-KEM-1024 (L5): 15 ms  vs  McEliece-348864 (L1): 120 ms = 8× slower at LOWER level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Finding 2: Cross-family degradation is 'free' – same NIST level, 98× faster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Finding 3: AEAD is a non-factor (max 3.5 µs difference per packet)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Finding 4: ML-KEM-based suites dominate at every NIST level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→ All 3 Pareto-optimal suites use ML-KEM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Finding 5: Rekey overhead = 29× between ML-KEM (0.029%) and McEliece (0.85%)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→ Cipher agility is essential, not optional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Finding 6: DDoS detection overhead is minimal on steady-state tunnel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→ XGBoost recommended for flight (µs inference, 3s detection)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PQC-MAV: First complete PQC tunnel for drone MAVLink traffic,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72 suites evaluated, 19,600 benchmarks, 3 detection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Deployment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Default suite: ML-KEM-768 + ML-DSA-65 + AES-256-GCM (NIST L3)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→ Handshake &lt; 22 ms, overhead Φ &lt; 0.03% at R=60s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Degradation target: ML-KEM-512 + Falcon-512 + AES-256-GCM (L1)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→ 9.1 ms handshake for stress conditions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Rekey interval: 60s for ML-KEM, ≥300s for HQC, avoid for McEliece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DDoS detection: XGBoost for flight, TST for post-flight analysis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Avoid in flight: SPHINCS+ (signing &gt; 1s) and McEliece-8192128 (keygen &gt; 8s)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Future work: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→ Real-flight validation with adaptive policy active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→ Formal protocol verification (ProVerif/Tamarin)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→ TLS-secured control channel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→ Session resumption to amortise handshake costs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→ Multi-drone swarm architecture extension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200400"/>
            <a:ext cx="2743200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DEFB"/>
                </a:solidFill>
                <a:latin typeface="Segoe UI"/>
              </a:defRPr>
            </a:pPr>
            <a:r>
              <a:t>PQC-MAV: The First Complete Post-Quantum Tunnel</a:t>
            </a:r>
            <a:br/>
            <a:r>
              <a:t>for UAV–GCS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196F3"/>
                </a:solidFill>
                <a:latin typeface="Segoe UI"/>
              </a:defRPr>
            </a:pPr>
            <a: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  <a:latin typeface="Segoe UI"/>
              </a:defRPr>
            </a:pPr>
            <a:r>
              <a:t>72 Suites  ·  19,600 Benchmarks  ·  3 Scenarios  ·  432 Data Points  ·  Real Hardware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