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232" y="3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PQC-MAV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BBDEFB"/>
                </a:solidFill>
                <a:latin typeface="Segoe UI"/>
              </a:defRPr>
            </a:pPr>
            <a:r>
              <a:t>A Complete Post-Quantum Cryptographic Tunnel</a:t>
            </a:r>
            <a:br/>
            <a:r>
              <a:t>for UAV–GCS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274320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Burak Güneysu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Segoe UI"/>
              </a:defRPr>
            </a:pPr>
            <a:r>
              <a:t>Department of Computer Science  •  February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669280"/>
            <a:ext cx="2194560" cy="8229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196F3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Cipher Suites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5669280"/>
            <a:ext cx="2194560" cy="8229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5669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196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6035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KEM Families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5669280"/>
            <a:ext cx="2194560" cy="8229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0" y="5669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196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6035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Scenarios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59" y="5669280"/>
            <a:ext cx="2194560" cy="8229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59" y="5669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196F3"/>
                </a:solidFill>
                <a:latin typeface="Segoe UI"/>
              </a:defRPr>
            </a:pPr>
            <a:r>
              <a:t>432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59" y="6035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Data 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Presentation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1.  Motivation &amp; Quantum Threat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2.  System Architecture – Bump-in-the-Wire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3.  PQC Algorithm Families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4.  72 Cipher Suite Registry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5.  Handshake Protocol &amp; AEAD Framing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6.  Benchmark Methodology &amp; Testbed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7.  KEM Performance Results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8.  Signature &amp; AEAD Results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9.  End-to-End Handshake (All 72 Suites)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10. Pareto-Optimal Suites &amp; Rekey Overhead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11. DDoS Detection Models – XGBoost &amp; TST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12. Three-Scenario Comparison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13. DDoS Overhead Analysis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14. Adaptive Policy &amp; Graceful Degradation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15. Key Findings &amp;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Motivation &amp; Quantum Threat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Why post-quantum cryptography for drones?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Quantum Threat to UAV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MAVLink 2.0: compact binary telemetry at up to 320 Hz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Current protection: classical crypto (RSA, ECDH, ECDSA)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NIST warns: quantum computers will break ALL classical key exchange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Three critical challenges for drone PQC: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① Performance heterogeneity – KEM keygen spans 4+ orders of magnitude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② Resource constraints – RPi 5 at ~61°C baseline, 80°C throttle point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③ Safety continuity – heartbeat timeout = 5 seconds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No prior work: complete PQC tunnel for real MAVLink traffic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PQC-MAV: first bump-in-the-wire PQC tunnel for UAV–GCS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Transparent bump-in-the-wire PQC tunnel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Tunnel Architecture &amp; Testbed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■  Bump-in-the-wire: zero changes to </a:t>
            </a:r>
            <a:r>
              <a:rPr dirty="0" err="1"/>
              <a:t>MAVProxy</a:t>
            </a:r>
            <a:r>
              <a:rPr dirty="0"/>
              <a:t> / </a:t>
            </a:r>
            <a:r>
              <a:rPr dirty="0" err="1"/>
              <a:t>QGroundControl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■  Data Path: Pixhawk → </a:t>
            </a:r>
            <a:r>
              <a:rPr dirty="0" err="1"/>
              <a:t>MAVProxy</a:t>
            </a:r>
            <a:r>
              <a:rPr dirty="0"/>
              <a:t> → PQC Proxy → [ENCRYPTED] → PQC Proxy → </a:t>
            </a:r>
            <a:r>
              <a:rPr dirty="0" err="1"/>
              <a:t>MAVProxy</a:t>
            </a:r>
            <a:r>
              <a:rPr dirty="0"/>
              <a:t> → QGC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■  Controller (Drone, RPi </a:t>
            </a:r>
            <a:r>
              <a:rPr lang="en-US" dirty="0"/>
              <a:t>4</a:t>
            </a:r>
            <a:r>
              <a:rPr dirty="0"/>
              <a:t>) – Follower (GCS, Windows 11) model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■  JSON-RPC control channel on TCP:48080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■  Two-phase rekey: Prepare → Commit → Abort/Rollback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■  Testbed: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    Drone: RPi 5, ARM Cortex-A76 (4 cores), 3,796 MB RAM, </a:t>
            </a:r>
            <a:r>
              <a:rPr dirty="0" err="1"/>
              <a:t>liboqs</a:t>
            </a:r>
            <a:r>
              <a:rPr dirty="0"/>
              <a:t> 0.12.0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    GCS:   Windows 11 x86-64, Python 3.11.13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    Network: Ethernet LAN (sub-</a:t>
            </a:r>
            <a:r>
              <a:rPr dirty="0" err="1"/>
              <a:t>ms</a:t>
            </a:r>
            <a:r>
              <a:rPr dirty="0"/>
              <a:t> RTT)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Post-Quantum Cryptography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NIST FIPS 203/204/205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PQC Algorithm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KEM (Key Encapsulation) – replaces Diffie-Hellman: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ML-KEM (FIPS 203): Module-LWE lattice – fastest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HQC: Quasi-cyclic codes – moderate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Classic McEliece: Binary Goppa codes – largest keys (up to 1.36 MB)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Digital Signatures – replaces RSA/ECDSA: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ML-DSA (FIPS 204): Lattice – fast &amp; balanced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Falcon: NTRU lattice – fastest sign/verify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SPHINCS+ (FIPS 205): Hash-based – slowest sign (hundreds of ms)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AEAD (Authenticated Encryption):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AES-256-GCM, ChaCha20-Poly1305, Ascon-128a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Negligible performance difference on ARM (~46–228 µs/pkt)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NIST Levels: L1 (≈AES-128), L3 (≈AES-192), L5 (≈AES-256)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72 Cipher Suite Registry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9 KEMs × 8 SIGs × 3 AEADs = 72 suites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Suite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S = { (KEM_i, SIG_j, AEAD_k) | Level(KEM_i) = Level(SIG_j) }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9 KEMs: ML-KEM-{512,768,1024}, HQC-{128,192,256}, McE-{348864,460896,8192128}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8 SIGs: ML-DSA-{44,65,87}, Falcon-{512,1024}, SPHINCS+-{128s,192s,256s}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3 AEADs: AES-256-GCM, ChaCha20-Poly1305, Ascon-128a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Level distribution: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L1 = 3×3×3 = 27  |  L3 = 3×2×3 = 18  |  L5 = 3×3×3 = 27  |  Total: 72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3 mathematical assumptions for defence-in-depth: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Lattice (ML-KEM) → Code-based (HQC) → Goppa (McEliece)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Suite ID: cs-{kem}-{aead}-{sig}  e.g., cs-mlkem768-aesgcm-mldsa65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Handshake &amp; AEAD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KEM+SIG+HKDF with deterministic nonces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PQC Handshake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3-message handshake over TCP: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1. ServerHello (GCS→Drone): pk + SIG.Sign(transcript)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2. ClientFinish (Drone→GCS): ct + HMAC(PSK, ct ‖ challenge)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3. Key derivation: k_{d→g} ‖ k_{g→d} = HKDF-SHA256(ss, salt, info)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AEAD Wire Format: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22-byte header (ver, kem/sig IDs, session, seq, epoch) as AAD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Nonce = epoch(4B) ‖ seq(8B) — NOT transmitted (deterministic)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16-byte auth tag, anti-replay via sliding-window bitmap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Mutual authentication: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GCS: PQC signature (anti-downgrade via transcript binding)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Drone: HMAC over PSK (fallback if PQC broken)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Benchmark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3 scenarios × 72 suites × 110s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Benchmarking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■  Three scenarios (all Feb 11, 2026):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    • Baseline (no-</a:t>
            </a:r>
            <a:r>
              <a:rPr dirty="0" err="1"/>
              <a:t>ddos</a:t>
            </a:r>
            <a:r>
              <a:rPr dirty="0"/>
              <a:t>): run 20260211_141627 – 144 files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    • + </a:t>
            </a:r>
            <a:r>
              <a:rPr dirty="0" err="1"/>
              <a:t>XGBoost</a:t>
            </a:r>
            <a:r>
              <a:rPr dirty="0"/>
              <a:t>:          run 20260211_150013 – 144 files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    • + TST:              run 20260211_171406 – 144 files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■  Per-suite protocol: </a:t>
            </a:r>
            <a:r>
              <a:rPr dirty="0" err="1"/>
              <a:t>start_proxy</a:t>
            </a:r>
            <a:r>
              <a:rPr dirty="0"/>
              <a:t> → handshake → 10s </a:t>
            </a:r>
            <a:r>
              <a:rPr dirty="0" err="1"/>
              <a:t>MAVLink</a:t>
            </a:r>
            <a:r>
              <a:rPr dirty="0"/>
              <a:t> → stop → merge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■  18 metric categories (A–R): crypto, handshake, </a:t>
            </a:r>
            <a:r>
              <a:rPr dirty="0" err="1"/>
              <a:t>data_plane</a:t>
            </a:r>
            <a:r>
              <a:rPr dirty="0"/>
              <a:t>, system, power, ...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■  432 total JSON files (72 × 2 endpoints × 3 scenarios)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KEM Primitive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ML-KEM median: 14.4 ms  •  McEliece: 620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KEM Keygen Time Across Algorithms &amp;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Median from live benchmarks (log scale) — ML-KEM is sub-millisecond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50165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Signature &amp; AEAD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SPHINCS+ dominates  •  AEAD is a non-factor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Signature &amp; AEAD Performance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353529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36358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2179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SIG sign times (log scale)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62179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AEAD per-packet (µs)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End-to-End Handshake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71/72 suites succeeded • full tunnel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All 72 Suites – Baseline Handshake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Sorted by duration (log scale). Color = KEM family.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822" y="914400"/>
            <a:ext cx="6400800" cy="102528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By KEM Family &amp; NIST Level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646" y="1137591"/>
            <a:ext cx="9169125" cy="50803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2179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Median by family across scenarios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Handshake Key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By KEM Family (baseline median):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ML-KEM:   14.4 ms  — sub-20ms for all ML-KEM suites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HQC:      271.4 ms  — moderate, code-based diversity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McEliece: 620.1 ms  — expensive keygen dominates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ML-KEM (excl SPHINCS+): max handshake = 18.9 ms ✓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By NIST Level (baseline):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L1 (n=27): mean=320 ms, median=176 ms, P95=910 ms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L3 (n=18): mean=3,444 ms, median=907 ms, P95=8,963 ms (outlier: 48,186 ms)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L5 (n=27): mean=702 ms, median=507 ms, P95=2,008 ms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Note: L3 max includes McEliece-460896+SPHINCS+-192s timeout (48.2s)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Pareto-Optimal Suites &amp; Rekey Overhead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Best security-performance trade-offs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Pareto Frontier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Gold stars = Pareto-optimal (all ML-KEM)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788" y="1322024"/>
            <a:ext cx="9144000" cy="55885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DDoS Detection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XGBoost (lightweight) vs TST Transformer (heavy)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DDoS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Threat: DDoS floods starve MAVLink throughput (32→5 pkts/window)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Detection: Scapy sniffs MAVLink v2 (0xFD magic byte)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XGBoost (fast):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5-packet window → ~3s detection latency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µs inference, ~100 KB model, single-threaded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System impact: CPU 15%→40%, temp 61°C→73°C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TST (heavy):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400-packet window → ~240s latency. 3-layer, 16-head Transformer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ms inference, ~5 MB model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• System impact: CPU 15%→89%, temp 61°C→83°C ⚠ near throttle!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Recommendation: XGBoost for flight, TST for post-flight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Three-Scenario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432 JSON files analyzed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System Metrics Across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CPU, temperature, packets – side by side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3660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CPU &amp; Temperature Heatmap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KEM family × scenario breakdown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33373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DDoS Overhead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Measuring the true cost of ML-based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Handshake Overhead: XGBoost vs TST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Δ median handshake time vs baseline, by KEM family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44008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Overhead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XGBoost overhead on ML-KEM: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median Δ = +1.3 ms (+8.7%) — minimal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TST overhead on ML-KEM: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median Δ = +9.2 ms (+63.9%) — significant due to CPU pressure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McEliece shows large absolute Δ in both scenarios: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+243 ms (XGBoost), +248 ms (TST) — keygen sensitive to CPU contention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TST pushes CPU to 89% and temp to 83°C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→ Thermal throttling at 80°C! Risk of degraded performance.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Key insight: steady-state AEAD data plane is unaffected —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overhead manifests primarily during handshake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Adaptive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TelemetryAwarePolicyV2 – live suite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Telemetry-Aware Rekey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Inputs (every 1s): link quality, battery, temperature, armed state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Suite Tier: tier(s) = Level + KEM_weight + AEAD_weight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Tier 0 (lightest): ML-KEM-512+AES → Tier 27: McE-8192128+Ascon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Correlation with handshake: r = 0.94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9-level Priority Cascade: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Safety → Emergency → Blackout → Cooldown → Link → Stress → Rekey → Upgrade → Hold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■  Most powerful degradation: McE → ML-KEM at same NIST level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t>    620ms → 14ms = 43× speedup, zero security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196F3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Key Findings &amp;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■  Finding 1: ML-KEM dominates (median 14.4 </a:t>
            </a:r>
            <a:r>
              <a:rPr dirty="0" err="1"/>
              <a:t>ms</a:t>
            </a:r>
            <a:r>
              <a:rPr dirty="0"/>
              <a:t> vs </a:t>
            </a:r>
            <a:r>
              <a:rPr dirty="0" err="1"/>
              <a:t>McEliece</a:t>
            </a:r>
            <a:r>
              <a:rPr dirty="0"/>
              <a:t> 620 </a:t>
            </a:r>
            <a:r>
              <a:rPr dirty="0" err="1"/>
              <a:t>ms</a:t>
            </a:r>
            <a:r>
              <a:rPr dirty="0"/>
              <a:t> = 43×)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■  Finding 2: SPHINCS+ signing is the #1 bottleneck (642–1,342 </a:t>
            </a:r>
            <a:r>
              <a:rPr dirty="0" err="1"/>
              <a:t>ms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■  Finding 3: AEAD is a non-factor (46–228 µs per packet)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■  Finding 4: </a:t>
            </a:r>
            <a:r>
              <a:rPr dirty="0" err="1"/>
              <a:t>XGBoost</a:t>
            </a:r>
            <a:r>
              <a:rPr dirty="0"/>
              <a:t>: +8.7% overhead, CPU 40%, temp 73°C ✓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■  Finding 5: TST: +63.9% overhead, CPU 89%, temp 83°C ⚠ near throttle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■  Finding 6: All 3 Pareto suites use ML-KEM (Φ &lt; 0.022% at R=60s)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■  Default suite: ML-KEM-768 + ML-DSA-65 + AES-256-GCM (L3)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■  Detector: </a:t>
            </a:r>
            <a:r>
              <a:rPr dirty="0" err="1"/>
              <a:t>XGBoost</a:t>
            </a:r>
            <a:r>
              <a:rPr dirty="0"/>
              <a:t> for flight, TST for ground analysis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dirty="0"/>
              <a:t>■  71/72 suites pass × 3 scenarios = 213 successful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200400"/>
            <a:ext cx="274320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EFB"/>
                </a:solidFill>
                <a:latin typeface="Segoe UI"/>
              </a:defRPr>
            </a:pPr>
            <a:r>
              <a:t>PQC-MAV: First Complete Post-Quantum Tunnel</a:t>
            </a:r>
            <a:br/>
            <a:r>
              <a:t>for UAV–GCS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196F3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72 Suites · 3 Scenarios · 432 Data Points · Real Hardware · All Numbers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1872</Words>
  <Application>Microsoft Office PowerPoint</Application>
  <PresentationFormat>Widescreen</PresentationFormat>
  <Paragraphs>271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22-748-011_BURA_KAMAL</cp:lastModifiedBy>
  <cp:revision>3</cp:revision>
  <dcterms:created xsi:type="dcterms:W3CDTF">2013-01-27T09:14:16Z</dcterms:created>
  <dcterms:modified xsi:type="dcterms:W3CDTF">2026-02-12T04:25:38Z</dcterms:modified>
  <cp:category/>
</cp:coreProperties>
</file>