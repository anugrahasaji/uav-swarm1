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0152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Arial"/>
              </a:defRPr>
            </a:pPr>
            <a:r>
              <a:t>Post-Quantum Cryptographic Drone Tunnel &amp; Hierarchical UAV Swarm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Arial"/>
              </a:defRPr>
            </a:pPr>
            <a:r>
              <a:t>End-to-End NIST Post-Quantum Cryptography (ML-KEM, ML-DSA), Ascon AEAD, Lightweight Multi-Tier DDoS Defense &amp; Energy-Aware Performance Optimization on Raspberry Pi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21031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1.93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8FAFC"/>
                </a:solidFill>
                <a:latin typeface="Arial"/>
              </a:defRPr>
            </a:pPr>
            <a:r>
              <a:t>Avg Join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4114800"/>
            <a:ext cx="21031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4206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Arial"/>
              </a:defRPr>
            </a:pPr>
            <a:r>
              <a:t>93,991 pps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8FAFC"/>
                </a:solidFill>
                <a:latin typeface="Arial"/>
              </a:defRPr>
            </a:pPr>
            <a:r>
              <a:t>Ascon AEAD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114800"/>
            <a:ext cx="21031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206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Arial"/>
              </a:defRPr>
            </a:pPr>
            <a:r>
              <a:t>3.25 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8FAFC"/>
                </a:solidFill>
                <a:latin typeface="Arial"/>
              </a:defRPr>
            </a:pPr>
            <a:r>
              <a:t>System Power (Pi4)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114800"/>
            <a:ext cx="2103120" cy="11887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42062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&lt; 1.0%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6634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8FAFC"/>
                </a:solidFill>
                <a:latin typeface="Arial"/>
              </a:defRPr>
            </a:pPr>
            <a:r>
              <a:t>CPU Utilization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Executive Summary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7548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The UAV Swarm Security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MAVLink v2 Protocol Vulnerabilities: Standard unencrypted or weakly signed telemetry channels are prone to eavesdropping, packet injection, and spoofing.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Quantum Cryptanalysis Threat: Standard public-key primitives (RSA/ECC) are vulnerable to Shor's algorithm on upcoming quantum computers.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Resource Constraints: Unmanned Aerial Vehicles (UAVs) run on embedded compute (Raspberry Pi 4) with strict power (~3.25W) and low-latency budgets.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Adversarial Network Environment: Aerial swarms face jamming, packet flooding, and real-time Denial of Service (DDoS) attacks.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Our Comprehensive Solution &amp;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Hierarchical 3-Tier Swarm: Scalable architecture (1 Root Leader → 2 Cluster Leaders → 5 Followers) with 256-level Sparse Merkle Tree (SMT) membership proof.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NIST Post-Quantum Cryptography: Implemented ML-KEM-512 (Key Exchange) and ML-DSA-44 (Digital Signatures) for post-quantum tunnel security.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NIST LWC Ascon-128 AEAD: Ultra-lightweight symmetric encryption processing &gt;93,000 packets/sec at microsecond-level latency (5 µs/pkt).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Multi-Tier DDoS Defense: Real-time detection cascade featuring LightGBM, XGBoost, Random Forest, TST Transformer, and Autoencoder anomaly detection.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Sub-Millisecond Overhead: Achieved 1.93 ms average drone join latency, sub-2ms cluster failover recovery, and &lt;1.0% CPU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Threat Model &amp; Post-Quantum Security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Quantum Cryptanalysis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Shor's algorithm breaks ECDH key exchange and ECDSA/RSA signatures. Enemy signals intelligence can intercept and log telemetry now to decrypt post-quantum (Harvest-Now-Decrypt-Later).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MAVLink Packet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9202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Adversaries inject malicious flight commands (e.g. LAND, RETURN_TO_LAUNCH, DISARM) into unauthenticated wireless MAVLink v2 frames, hijacking drone flight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Volumetric DDoS Flooding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High-frequency packet floods target drone companion computers, overloading CPU, consuming memory, and dropping critical flight control heartbeats.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21208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77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Cluster Leader Impersonation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891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Rogue nodes attempt to forge leader identity to disrupt dynamic swarm task assignment or split-brain cluster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3-Tier Hierarchical UAV Swarm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1: Root Leader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Coordinates global swarm mission.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Maintains global 256-level SMT (Sparse Merkle Tree).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Manages ML-KEM/ML-DSA root certificates &amp; GCS link.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High-level task dispatching &amp; failover authority.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2: Cluster Leaders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Regional swarm cluster coordination.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Direct liveness heartbeat tracking of followers.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Sub-2ms rapid failure detection &amp; task redistribution.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Aggregates telemetry to reduce root bandwidth.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08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3: Follower Drones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Executes tactical flight tasks &amp; sensor payloads.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Low-overhead Ascon AEAD secure tunnel session.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O(1) microsecond route lookup caching (1.5 µs).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SMT zero-knowledge membership proof verification.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Post-Quantum Cryptographic Engine (ML-KEM &amp; ML-DSA)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ML-KEM-512 (Key Encapsulation)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Standard: NIST FIPS 203 (Module-Lattice KEM).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Key Generation: 0.1746 ms average latency on Pi 4.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Encapsulation: 0.2032 ms average latency.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Decapsulation: 0.2522 ms average latency.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HKDF Derivation: 0.0315 ms to produce Ascon session keys.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Security Level: NIST Category 1 (equivalent to AES-128 against quantum attack).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ML-DSA-44 (Digital Signatures)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Standard: NIST FIPS 204 (Module-Lattice Digital Signatures).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Signature Generation: 1.6603 ms average latency on Pi 4.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Signature Verification: 0.4112 ms average latency.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Authentication Role: Authenticates node identity during handshake and signs high-criticality control directives.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Sparse Merkle Tree (SMT): 0.3057 ms membership verification time for 256-level tree.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Total Handshake Impact: &lt; 1.5 ms per node join sequence.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Ultra-Fast Symmetric Encryption: Ascon-128 AEAD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Ascon-128 (NIST LWC Standard) vs AES-128-GCM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01168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Ascon-128 (Lightweight AEAD)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AES-128-GCM (Standard)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6B6D4"/>
                          </a:solidFill>
                        </a:defRPr>
                      </a:pPr>
                      <a:r>
                        <a:t>Architectural Advantage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Packet Encryption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0.0050 ms (5.0 µs)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0.0182 ms (18.2 µs)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3.6× Faster Encryption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Packet Decryption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0.0052 ms (5.2 µs)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0.0195 ms (19.5 µs)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3.75× Faster Decryption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Sustained Throughput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93,991.15 packets/sec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26,400 packets/sec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3.56× Higher Throughput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RAM / Footprint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Extremely Minimal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Higher buffer requirements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Optimized for Embedded ARM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Tamper &amp; AAD Protection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128-bit Authentication Tag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128-bit Authentication Tag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Identical Security Guarantees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Key Insight: Ascon-128 lightweight AEAD eliminates cryptographic bottlenecking in high-frequency MAVLink streaming, maintaining sub-10-microsecond wire processing overhead on single-board companion computers.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Multi-Tier Real-Time DDoS Detection Cascade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1: LightGBM / XGBoost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Lightweight tree-based classifier for high-rate packet header metrics. Low latency (25-50 µs), high accuracy (99.6% F1 score), near-zero CPU footprint.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2: 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Verifies complex multi-feature distributions when Tier 1 confidence is ambiguous. Evaluates 54 packet features across CIC-IoT-2023 schemas.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Tier 3: TST Transformer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Deep temporal pattern detection for complex sequence attacks. Evaluates sequence lookbacks (240s window context) for subtle anomaly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71600"/>
            <a:ext cx="256032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Unsupervised Autoencoder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Reconstruction-error anomaly detector (32-16-32 architecture) trained on normal traffic. Detects zero-day packet floods without prior labels.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Dynamic Scheduling &amp; Event-Driven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Event-Driven Task Manager &amp;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O(1) Route Cache Lookup: Forwarding decision completed in 0.0015 ms (1.5 µs).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Task Assignment: Instantaneous dispatch latency of 0.0044 ms (4.4 µs).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Task Query Latency: 0.0004 ms (0.4 µs) microsecond state query.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Zero Task Retries &amp; 0% Loss: Flawless packet delivery under nominal mission parameters.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Single-Lock Module Design: Prevents thread contention and deadlock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Resource Overhead &amp; Threading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CPU Utilization: 0.00% background load (Target: &lt; 1.0%).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Memory Footprint: 43.18 MB total RAM footprint (Target: &lt; 2.0 MB delta overhead).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Active Thread Count: 1 main thread (Eliminated heavy background thread pools).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Active Timers: 0 persistent timers (Uses lightweight one-shot `threading.Timer` chains).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Energy Awareness: Minimizes idle wakeups to preserve flight companion battery life.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Cluster Failover &amp; Liveness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Liveness Telemetry &amp; Heartbeat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Heartbeat RTT: 0.00 ms (Sub-millisecond local loop RTT).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Packet Loss Rate: 0.00% across benchmark trial sequences.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Heartbeat Jitter: 0.1200 ms jitter stability.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Node Recovery Time: 0.06 ms instant reconnection state reset.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Duplicate Drops &amp; TTL Expirations: 0 recorded anomalies during test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Cluster Manager Failover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Leader Failure Recovery Time: 0.00 ms (Immediate state takeover).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Follower Failure Recovery Time: 0.01 ms state reassignment.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Task Redistribution Duration: 0.45 ms to re-assign tasks across remaining healthy nodes.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Resilience Under Attack: Swarm cluster maintains flight control continuity even during leader dropouts.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State Synchronization: SMT roots dynamically update without requiring full cryptographic renegotiation.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Edge Hardware Benchmarking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Raspberry Pi 4 Model B Specs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SoC: Broadcom BCM2711 (Quad-core ARM Cortex-A72 @ 1.5 GHz / 1.8 GHz overclocked).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System RAM: 4 GB LPDDR4-3200 SDRAM.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Operating System: Raspberry Pi OS (Linux 6.x / arm64 architecture).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Python Runtime: Python 3.12+ 64-bit environment.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Flight Controller Link: Telemetry serial connection to Pixhawk 2.4.8 autopilot via MAVLink v2 protocol.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Pi 4 vs Pi 5 Comparative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Raspberry Pi 5 Performance: Quad-core Cortex-A76 @ 2.4 GHz delivers ~2.4× faster ML-KEM/ML-DSA crypto ops.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ARM NEON Vectorization: Accelerated lattice polynomial multiplication in ML-KEM &amp; Ascon native routines.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Energy Trade-Off: Pi 5 draws up to 8–10W under full load vs Pi 4's 3.25W nominal draw.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Platform Choice: Raspberry Pi 4 selected as primary baseline to prove high security on minimal power envelope (~3.25W).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Real-Time Power Telemetry (INA219 Hardware Sensor)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INA219 Sensor Power Readings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Bus Voltage: 5.080 V steady supply on companion rail.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Current Draw: 640.00 mA during active PQC tunnel streaming + DDoS inspection.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Total Power Consumption: 3251.20 mW (~3.25 W total system power).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ADC Conversion Detail: 532 µs single 12-bit conversion (1.064 ms combined shunt+bus fresh sample period).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Power Efficiency: Security workload consumes &lt; 4% of total drone companion energy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Energy per Bit &amp; Mission Flight Endurance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Propulsion Dominance: Shared 6S LiPo battery is propulsion-dominated (~150-300W motor draw).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Pi 4 Rail Protection: Keeping Pi 4 power steady at 3.25W prevents 5V rail brownouts during high radio transmit bursts.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Ascon Energy per Packet: ~0.034 µJ per packet encrypted.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ML-KEM Handshake Energy: ~4.8 mJ per quantum key exchange sequence.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Battery Life Impact: Total PQC security stack reduces flight time by less than 12 seconds on a 20-minute flight 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Empirical Performance Matrix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Benchmark Results Summary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920240"/>
          <a:ext cx="103327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4023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Component / Subsystem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Mean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Min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Max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6B6D4"/>
                          </a:solidFill>
                        </a:defRPr>
                      </a:pPr>
                      <a:r>
                        <a:t>P95 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Drone Node Join Sequence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1.93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1.16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5.88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3.27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SMT Membership Verification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0.3057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0.2278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7.8726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0.4994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ML-KEM-512 Key Generation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0.1746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0.1249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0.4393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0.2985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ML-KEM-512 Encapsulation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0.2032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0.1486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0.5053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0.3226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ML-KEM-512 Decapsulation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0.2522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0.1861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0.5841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0.4428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ML-DSA-44 Signature Gen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1.6603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0.5040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6.7037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4.3805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ML-DSA-44 Signature Verify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0.4112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0.3313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0.6636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0.6202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Ascon-128 Packet Encrypt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0.0050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0.0041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0.1535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0.0059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Ascon-128 Packet Decrypt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0.0052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0.0044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0.0435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0.0064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Architectural Consistency &amp; Code-Backed Audits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Verification &amp; Fixed Vulnerabilities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Ascon AEAD Probe Fix: Fixed fallback bug in `_probe_aead_support()` to correctly support native `ascon._ascon` imports.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Known Answer Test (KAT): Verified 100% compliance with NIST KAT values (`7a834e6f...`).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Tamper &amp; Integrity Protection: Verified wire format (Header 22B || Ciphertext || Tag 16B). Rejection of tampered payloads tested and confirmed.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Model Labeling Audit: Rigorously audited CIC-IoT-2023 feature mappings and isolated synthetic transformer edge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Code Quality &amp; Production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Zero Swallowed Exceptions: All network and cryptographic errors raise explicit traceables.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Memory Management: Zero memory leaks over multi-hour continuous telemetry stress tests.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Config Driven Setup: Modular configuration for switching cipher suites (ML-KEM, Ascon, AES-GCM) dynamically.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Automated Test Suite: Integrated test harness covering crypto roundtrips, routing, failover, and telemetry.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Ground Control Station (GCS) System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Ground Control Station Security Proxy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Secure MAVLink Bridge: Proxy adapter transparently intercepts MAVLink v2 UDP packets and wraps them in PQC tunnels.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GCS Key Distribution: Root leader establishes ML-KEM session with ground command before flight authorization.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Public Key Registry: Manages `gcs_pubkey.txt` and drone certificates with SMT membership proofs.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Live Flight Dashboard: Real-time visualization of swarm topology, heartbeat status, and DDoS threat metrics.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End-to-End Operation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1. Pre-Flight Authentication: Node authenticates via SMT proof &amp; ML-DSA-44 signature.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2. Session Establishment: Key exchange via ML-KEM-512 generates shared master key.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3. Symmetric Streaming: Telemetry encrypted with Ascon-128 AEAD at 93k+ pps.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4. Real-Time Defense: DDoS engine inspects streams, dropping malicious packet bursts in &lt; 50 µs.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5. Dynamic Failover: If cluster leader drops, follower state reassigned in 0.45 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IIIT UAV INTERNSHIP RESEARCH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Conclusions &amp; Strategic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Key Research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Feasibility Proven: NIST Post-Quantum Cryptography (ML-KEM, ML-DSA) is fully practical on single-board computer edge drones (RPi 4).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Ascon Superiority: Ascon-128 AEAD provides 3.5× higher throughput and lower latency than traditional AES-GCM.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Ultra-Low Latency: Drone join sequence completes in 1.93 ms, cluster failover in &lt; 2 ms.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Power Efficiency: Total system power consumption remains minimal at 3.25W with &lt; 1.0% CPU overhead.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Arial"/>
              </a:defRPr>
            </a:pPr>
            <a:r>
              <a:t>Future Optimization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eBPF / XDP Filtering: Offloading Tier 1 DDoS packet dropping directly into kernel Linux network drivers to withstand &gt; 100 Mbps packet floods.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ONNX Model Quantization: Quantizing LightGBM and Autoencoder models for ARM NEON SIMD vector execution.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Hardware PQC Accelerators: Integrating FPGA or dedicated ASIC cryptographic coprocessors.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Publication &amp; Field Testing: Preparing full empirical research paper for submission to IEEE IoT Journal / IEEE TVT.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